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1" r:id="rId12"/>
    <p:sldId id="257" r:id="rId8"/>
    <p:sldId id="258" r:id="rId9"/>
    <p:sldId id="259" r:id="rId10"/>
    <p:sldId id="260" r:id="rId11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C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6126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2C5B0"/>
                </a:solidFill>
                <a:latin typeface="Aptos"/>
              </a:rPr>
              <a:t>ECE PROJECT  / 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6217920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>
                <a:solidFill>
                  <a:srgbClr val="FAFAF8"/>
                </a:solidFill>
                <a:latin typeface="Aptos"/>
              </a:rPr>
              <a:t>Resistor Value
Identifier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61488"/>
            <a:ext cx="557784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0">
                <a:solidFill>
                  <a:srgbClr val="A2B1BF"/>
                </a:solidFill>
                <a:latin typeface="Aptos"/>
              </a:rPr>
              <a:t>From a photo to an ohmic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10128"/>
            <a:ext cx="55778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AFAF8"/>
                </a:solidFill>
                <a:latin typeface="Aptos"/>
              </a:rPr>
              <a:t>Color-band decoding cross-checked with a trained image classifier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5394960" cy="713232"/>
          </a:xfrm>
          <a:prstGeom prst="round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AFAF8"/>
                </a:solidFill>
                <a:latin typeface="Aptos"/>
              </a:rPr>
              <a:t>37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434840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AFAF8"/>
                </a:solidFill>
                <a:latin typeface="Aptos"/>
              </a:rPr>
              <a:t>2,881 photos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434840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6C34E"/>
                </a:solidFill>
                <a:latin typeface="Aptos"/>
              </a:rPr>
              <a:t>91% top-1 test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133856"/>
            <a:ext cx="4800600" cy="1938528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sistor_02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020" y="1188720"/>
            <a:ext cx="18288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39712" y="3182112"/>
            <a:ext cx="45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6C34E"/>
                </a:solidFill>
                <a:latin typeface="Aptos"/>
              </a:rPr>
              <a:t>EXAMPLE  /  4.7 kΩ CLASS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657600"/>
            <a:ext cx="4800600" cy="1609344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sistor_0107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612" y="3712463"/>
            <a:ext cx="1499616" cy="1499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39712" y="5358384"/>
            <a:ext cx="45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2C5B0"/>
                </a:solidFill>
                <a:latin typeface="Aptos"/>
              </a:rPr>
              <a:t>EXAMPLE  /  220 Ω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47104"/>
            <a:ext cx="10881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2B1BF"/>
                </a:solidFill>
                <a:latin typeface="Aptos"/>
              </a:rPr>
              <a:t>Resistor Value Identifier  •  Class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t>02  / 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21D2D"/>
                </a:solidFill>
                <a:latin typeface="Aptos"/>
              </a:rPr>
              <a:t>One photo, two independent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365760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t>3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606040" cy="1828800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DC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4F95D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2240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21D2D"/>
                </a:solidFill>
                <a:latin typeface="Aptos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2402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4B5760"/>
                </a:solidFill>
                <a:latin typeface="Aptos"/>
              </a:rPr>
              <a:t>React UI loads the selected photo.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9544" y="2496312"/>
            <a:ext cx="20116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828F97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828800"/>
            <a:ext cx="2606040" cy="1828800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DC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011680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2C5B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487168"/>
            <a:ext cx="2240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21D2D"/>
                </a:solidFill>
                <a:latin typeface="Aptos"/>
              </a:rPr>
              <a:t>Find bands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926080"/>
            <a:ext cx="22402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4B5760"/>
                </a:solidFill>
                <a:latin typeface="Aptos"/>
              </a:rPr>
              <a:t>Pixel analysis locates the resistor body and stripe colors.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496312"/>
            <a:ext cx="20116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828F97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28800"/>
            <a:ext cx="2606040" cy="1828800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DC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2011680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EF706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487168"/>
            <a:ext cx="2240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21D2D"/>
                </a:solidFill>
                <a:latin typeface="Aptos"/>
              </a:rP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926080"/>
            <a:ext cx="22402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4B5760"/>
                </a:solidFill>
                <a:latin typeface="Aptos"/>
              </a:rPr>
              <a:t>YOLO11n predicts one of 37 labeled resistor classes.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496312"/>
            <a:ext cx="20116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828F97"/>
                </a:solidFill>
                <a:latin typeface="Apto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5984" y="1828800"/>
            <a:ext cx="2606040" cy="1828800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DC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2011680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6C34E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487168"/>
            <a:ext cx="2240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21D2D"/>
                </a:solidFill>
                <a:latin typeface="Aptos"/>
              </a:rPr>
              <a:t>Report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2926080"/>
            <a:ext cx="22402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4B5760"/>
                </a:solidFill>
                <a:latin typeface="Aptos"/>
              </a:rPr>
              <a:t>Band-code result is compared with model output.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160520"/>
            <a:ext cx="10972800" cy="1417320"/>
          </a:xfrm>
          <a:prstGeom prst="roundRect">
            <a:avLst/>
          </a:prstGeom>
          <a:solidFill>
            <a:srgbClr val="1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379976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2C5B0"/>
                </a:solidFill>
                <a:latin typeface="Aptos"/>
              </a:rPr>
              <a:t>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736592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AFAF8"/>
                </a:solidFill>
                <a:latin typeface="Aptos"/>
              </a:rPr>
              <a:t>React + TypeScript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736592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AFAF8"/>
                </a:solidFill>
                <a:latin typeface="Aptos"/>
              </a:rPr>
              <a:t>Electron IPC bridge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736592"/>
            <a:ext cx="2514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AFAF8"/>
                </a:solidFill>
                <a:latin typeface="Aptos"/>
              </a:rPr>
              <a:t>Python + Ultralytics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736592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6C34E"/>
                </a:solidFill>
                <a:latin typeface="Aptos"/>
              </a:rPr>
              <a:t>Image stays 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897880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21D2D"/>
                </a:solidFill>
                <a:latin typeface="Aptos"/>
              </a:rPr>
              <a:t>If estimates disagree, the app flags the result instead of hiding the mismatch.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47104"/>
            <a:ext cx="10881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C7A"/>
                </a:solidFill>
                <a:latin typeface="Aptos"/>
              </a:rPr>
              <a:t>Architecture: image-level classification plus color-band decoding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t>03  /  DATA AND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AFAF8"/>
                </a:solidFill>
                <a:latin typeface="Aptos"/>
              </a:rPr>
              <a:t>Learning resistor classes from labeled photos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365760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t>4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481328" cy="841248"/>
          </a:xfrm>
          <a:prstGeom prst="round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55064"/>
            <a:ext cx="12618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F6C34E"/>
                </a:solidFill>
                <a:latin typeface="Aptos"/>
              </a:rPr>
              <a:t>2,881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48256"/>
            <a:ext cx="126187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A2B1BF"/>
                </a:solidFill>
                <a:latin typeface="Aptos"/>
              </a:rPr>
              <a:t>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04288" y="1536192"/>
            <a:ext cx="1481328" cy="841248"/>
          </a:xfrm>
          <a:prstGeom prst="round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4016" y="1655064"/>
            <a:ext cx="12618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32C5B0"/>
                </a:solidFill>
                <a:latin typeface="Aptos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4016" y="2048256"/>
            <a:ext cx="126187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A2B1BF"/>
                </a:solidFill>
                <a:latin typeface="Aptos"/>
              </a:rPr>
              <a:t>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86784" y="1536192"/>
            <a:ext cx="1481328" cy="841248"/>
          </a:xfrm>
          <a:prstGeom prst="round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6512" y="1655064"/>
            <a:ext cx="12618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32C5B0"/>
                </a:solidFill>
                <a:latin typeface="Aptos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2048256"/>
            <a:ext cx="126187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A2B1BF"/>
                </a:solidFill>
                <a:latin typeface="Aptos"/>
              </a:rPr>
              <a:t>epochs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24912"/>
            <a:ext cx="5212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t>81 / 10 / 10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054096"/>
            <a:ext cx="5440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AFAF8"/>
                </a:solidFill>
                <a:latin typeface="Aptos"/>
              </a:rPr>
              <a:t>2,303 train  •  289 validation  •  289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703320"/>
            <a:ext cx="5212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2C5B0"/>
                </a:solidFill>
                <a:latin typeface="Aptos"/>
              </a:rPr>
              <a:t>PRETRAINED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005072"/>
            <a:ext cx="544068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AFAF8"/>
                </a:solidFill>
                <a:latin typeface="Aptos"/>
              </a:rPr>
              <a:t>YOLO11n-cls  /  224 px input  /  CPU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828032"/>
            <a:ext cx="544068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2B1BF"/>
                </a:solidFill>
                <a:latin typeface="Aptos"/>
              </a:rPr>
              <a:t>The best checkpoint is saved as
models/resistor_classifier.pt.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261872"/>
            <a:ext cx="4892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A2B1BF"/>
                </a:solidFill>
                <a:latin typeface="Aptos"/>
              </a:rPr>
              <a:t>TRAINING METRICS BY EPOCH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517904"/>
            <a:ext cx="4983480" cy="4983480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572768"/>
            <a:ext cx="4873752" cy="48737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47104"/>
            <a:ext cx="10881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2B1BF"/>
                </a:solidFill>
                <a:latin typeface="Aptos"/>
              </a:rPr>
              <a:t>Dataset labels come from class names; the app uses the classifier confidence as a second opinion.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t>04  /  VALUE 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21D2D"/>
                </a:solidFill>
                <a:latin typeface="Aptos"/>
              </a:rPr>
              <a:t>A resistor value is encoded in its 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365760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t>5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66360" cy="2029968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sistor_01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1563624"/>
            <a:ext cx="1920240" cy="1920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508760"/>
            <a:ext cx="5166360" cy="2029968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sistor_02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140" y="1563624"/>
            <a:ext cx="192024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3639312"/>
            <a:ext cx="49834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21D2D"/>
                </a:solidFill>
                <a:latin typeface="Aptos"/>
              </a:rPr>
              <a:t>RED  •  RED  •  BROWN  •  GOLD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639312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21D2D"/>
                </a:solidFill>
                <a:latin typeface="Aptos"/>
              </a:rPr>
              <a:t>YELLOW  •  VIOLET  •  RED  •  GOLD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96512"/>
            <a:ext cx="5166360" cy="1152144"/>
          </a:xfrm>
          <a:prstGeom prst="roundRect">
            <a:avLst/>
          </a:prstGeom>
          <a:solidFill>
            <a:srgbClr val="1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4709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FAFAF8"/>
                </a:solidFill>
                <a:latin typeface="Aptos"/>
              </a:rPr>
              <a:t>22 × 10¹ = 220 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45736"/>
            <a:ext cx="4709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6C34E"/>
                </a:solidFill>
                <a:latin typeface="Aptos"/>
              </a:rPr>
              <a:t>±5% tolerance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096512"/>
            <a:ext cx="5166360" cy="1152144"/>
          </a:xfrm>
          <a:prstGeom prst="roundRect">
            <a:avLst/>
          </a:prstGeom>
          <a:solidFill>
            <a:srgbClr val="1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343400"/>
            <a:ext cx="4709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FAFAF8"/>
                </a:solidFill>
                <a:latin typeface="Aptos"/>
              </a:rPr>
              <a:t>47 × 10² = 4.7 kΩ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745736"/>
            <a:ext cx="4709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6C34E"/>
                </a:solidFill>
                <a:latin typeface="Aptos"/>
              </a:rPr>
              <a:t>±5% tolerance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50992"/>
            <a:ext cx="10881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21D2D"/>
                </a:solidFill>
                <a:latin typeface="Aptos"/>
              </a:rPr>
              <a:t>4-band rule: (first digit × 10 + second digit) × multiplier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25896"/>
            <a:ext cx="10881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C7A"/>
                </a:solidFill>
                <a:latin typeface="Aptos"/>
              </a:rPr>
              <a:t>Gold/silver are multiplier or tolerance bands, never significant digits.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47104"/>
            <a:ext cx="10881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C7A"/>
                </a:solidFill>
                <a:latin typeface="Aptos"/>
              </a:rPr>
              <a:t>Band sequence is tested in both orientations; invalid metallic digit readings are rejected.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t>05  /  RESULTS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AFAF8"/>
                </a:solidFill>
                <a:latin typeface="Aptos"/>
              </a:rPr>
              <a:t>What works, and what still needs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365760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t>6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971800" cy="3611880"/>
          </a:xfrm>
          <a:prstGeom prst="roundRect">
            <a:avLst/>
          </a:prstGeom>
          <a:solidFill>
            <a:srgbClr val="32C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514600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4200" b="1">
                <a:solidFill>
                  <a:srgbClr val="121D2D"/>
                </a:solidFill>
                <a:latin typeface="Aptos"/>
              </a:rPr>
              <a:t>91%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61488"/>
            <a:ext cx="2468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21D2D"/>
                </a:solidFill>
                <a:latin typeface="Aptos"/>
              </a:rPr>
              <a:t>TOP-1 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383280"/>
            <a:ext cx="2331720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121D2D"/>
                </a:solidFill>
                <a:latin typeface="Aptos"/>
              </a:rPr>
              <a:t>99.7% top-5
289 held-out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389120"/>
            <a:ext cx="2377440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121D2D"/>
                </a:solidFill>
                <a:latin typeface="Aptos"/>
              </a:rPr>
              <a:t>91% exact class match; top-5 includes the correct class among the five highest scores.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664208"/>
            <a:ext cx="30632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6C34E"/>
                </a:solidFill>
                <a:latin typeface="Aptos"/>
              </a:rPr>
              <a:t>CURRENT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011680"/>
            <a:ext cx="31546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AFAF8"/>
                </a:solidFill>
                <a:latin typeface="Aptos"/>
              </a:rPr>
              <a:t>• Trained 37-class image classifier
• Independent color-band value check
• Flags classifier/band disagreements
• 9 automated tests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664208"/>
            <a:ext cx="3474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EF7060"/>
                </a:solidFill>
                <a:latin typeface="Aptos"/>
              </a:rPr>
              <a:t>NEXT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011680"/>
            <a:ext cx="3657600" cy="1572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AFAF8"/>
                </a:solidFill>
                <a:latin typeface="Aptos"/>
              </a:rPr>
              <a:t>• Test more cameras, lighting, and backgrounds
• Add varied real photos per class
• Improve resistor/body localization
• Track per-class errors and confidence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4160520"/>
            <a:ext cx="7287768" cy="987552"/>
          </a:xfrm>
          <a:prstGeom prst="round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4352544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2C5B0"/>
                </a:solidFill>
                <a:latin typeface="Aptos"/>
              </a:rPr>
              <a:t>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315968"/>
            <a:ext cx="54223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AFAF8"/>
                </a:solidFill>
                <a:latin typeface="Aptos"/>
              </a:rPr>
              <a:t>The model proposes a class; the color code provides a physical cross-check.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532120"/>
            <a:ext cx="7223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>
                <a:solidFill>
                  <a:srgbClr val="F6C34E"/>
                </a:solidFill>
                <a:latin typeface="Aptos"/>
              </a:rP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47104"/>
            <a:ext cx="10881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2B1BF"/>
                </a:solidFill>
                <a:latin typeface="Aptos"/>
              </a:rPr>
              <a:t>Measured project result; broader real-world accuracy still requires additional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C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1000" b="1">
                <a:solidFill>
                  <a:srgbClr val="32C5B0"/>
                </a:solidFill>
                <a:latin typeface="Aptos"/>
              </a:rPr>
              <a:t>RESISTOR VALUE IDENTIFICATION  /  01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3200" b="1">
                <a:solidFill>
                  <a:srgbClr val="FAFAF8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48840"/>
            <a:ext cx="10241280" cy="2926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1800" b="0">
                <a:solidFill>
                  <a:srgbClr val="BFCCD5"/>
                </a:solidFill>
                <a:latin typeface="Aptos"/>
              </a:rPr>
              <a:t>AI Resistor Value Identification is a project designed to identify the resistance value of a resistor using its color bands. Resistors commonly use color bands to represent their resistance and tolerance, but reading these bands manually can sometimes be difficult or time-consuming. This project provides a digital solution where users can select resistor bands and instantly obtain the resistance value and tolerance. It also includes an optional AI-based image recognition feature for identifying resistor values from photographs.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C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1000" b="1">
                <a:solidFill>
                  <a:srgbClr val="32C5B0"/>
                </a:solidFill>
                <a:latin typeface="Aptos"/>
              </a:rPr>
              <a:t>RESISTOR VALUE IDENTIFICATION  /  07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3200" b="1">
                <a:solidFill>
                  <a:srgbClr val="FAFAF8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48840"/>
            <a:ext cx="10241280" cy="2926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1800" b="0">
                <a:solidFill>
                  <a:srgbClr val="BFCCD5"/>
                </a:solidFill>
                <a:latin typeface="Aptos"/>
              </a:rPr>
              <a:t>The AI Resistor Value Identification project provides a practical and user-friendly way to determine resistor values. The manual calculator successfully supports both 4-band and 5-band resistors, displaying resistance and tolerance based on the selected colors. The project also includes an AI extension for image-based identification, providing an additional way to recognize resistor values. Overall, the system combines traditional resistor color-code calculation with AI-based recognition to make resistor identification faster and easier.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