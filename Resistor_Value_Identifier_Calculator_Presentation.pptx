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11"/>
    <p:sldId id="257" r:id="rId3"/>
    <p:sldId id="258" r:id="rId4"/>
    <p:sldId id="259" r:id="rId5"/>
    <p:sldId id="260" r:id="rId6"/>
    <p:sldId id="26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85800" y="1143000"/>
            <a:ext cx="6217920" cy="13898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3400" b="1">
                <a:solidFill>
                  <a:srgbClr val="FAFAF8"/>
                </a:solidFill>
                <a:latin typeface="Aptos"/>
              </a:rPr>
              <a:t>Resistor Value
Identifier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61488"/>
            <a:ext cx="5577840" cy="40233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800" b="0">
                <a:solidFill>
                  <a:srgbClr val="A2B1BF"/>
                </a:solidFill>
                <a:latin typeface="Aptos"/>
              </a:rPr>
              <a:t>Choose the bands. Read the value.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10128"/>
            <a:ext cx="521208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0">
                <a:solidFill>
                  <a:srgbClr val="FAFAF8"/>
                </a:solidFill>
                <a:latin typeface="Aptos"/>
              </a:rPr>
              <a:t>A hands-on tool for selecting resistor bands and reading the resulting resistance.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5394960" cy="749808"/>
          </a:xfrm>
          <a:prstGeom prst="round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4553712"/>
            <a:ext cx="10972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32C5B0"/>
                </a:solidFill>
                <a:latin typeface="Aptos"/>
              </a:rPr>
              <a:t>4-band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2032" y="4553712"/>
            <a:ext cx="109728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F6C34E"/>
                </a:solidFill>
                <a:latin typeface="Aptos"/>
              </a:rPr>
              <a:t>5-band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0752" y="4553712"/>
            <a:ext cx="214884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FAFAF8"/>
                </a:solidFill>
                <a:latin typeface="Aptos"/>
              </a:rPr>
              <a:t>Live value + tolerance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5979319"/>
            <a:ext cx="4343400" cy="363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000" b="1" dirty="0">
                <a:solidFill>
                  <a:srgbClr val="32C5B0"/>
                </a:solidFill>
                <a:latin typeface="Aptos"/>
              </a:rPr>
              <a:t>THE MANUAL CALCULATOR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C922F99-94C3-7469-3F69-D554A5D7FE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0528" y="303817"/>
            <a:ext cx="5018808" cy="557587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t>02  /  MAIN FEATURE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846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121D2D"/>
                </a:solidFill>
                <a:latin typeface="Aptos"/>
              </a:rPr>
              <a:t>Manual calculator: from bands to a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365760"/>
            <a:ext cx="502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t>3 /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97880" y="1691640"/>
            <a:ext cx="5413248" cy="1024128"/>
          </a:xfrm>
          <a:prstGeom prst="roundRect">
            <a:avLst/>
          </a:prstGeom>
          <a:solidFill>
            <a:srgbClr val="FAFAF8"/>
          </a:solidFill>
          <a:ln w="12700">
            <a:solidFill>
              <a:srgbClr val="DC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0" y="1883664"/>
            <a:ext cx="4114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>
                <a:solidFill>
                  <a:srgbClr val="32C5B0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837944"/>
            <a:ext cx="4343400" cy="265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121D2D"/>
                </a:solidFill>
                <a:latin typeface="Aptos"/>
              </a:rPr>
              <a:t>Choose band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67128"/>
            <a:ext cx="43434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4B5760"/>
                </a:solidFill>
                <a:latin typeface="Aptos"/>
              </a:rPr>
              <a:t>Select a 4-band or 5-band resistor.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97880" y="2953512"/>
            <a:ext cx="5413248" cy="1024128"/>
          </a:xfrm>
          <a:prstGeom prst="roundRect">
            <a:avLst/>
          </a:prstGeom>
          <a:solidFill>
            <a:srgbClr val="FAFAF8"/>
          </a:solidFill>
          <a:ln w="12700">
            <a:solidFill>
              <a:srgbClr val="DC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3145536"/>
            <a:ext cx="4114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>
                <a:solidFill>
                  <a:srgbClr val="EF7060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099816"/>
            <a:ext cx="4343400" cy="265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121D2D"/>
                </a:solidFill>
                <a:latin typeface="Aptos"/>
              </a:rPr>
              <a:t>Set each color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3429000"/>
            <a:ext cx="43434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4B5760"/>
                </a:solidFill>
                <a:latin typeface="Aptos"/>
              </a:rPr>
              <a:t>Use the labeled selectors; the resistor preview updates.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20740" y="4123944"/>
            <a:ext cx="5413248" cy="1024128"/>
          </a:xfrm>
          <a:prstGeom prst="roundRect">
            <a:avLst/>
          </a:prstGeom>
          <a:solidFill>
            <a:srgbClr val="FAFAF8"/>
          </a:solidFill>
          <a:ln w="12700">
            <a:solidFill>
              <a:srgbClr val="DCE1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6126480" y="4407407"/>
            <a:ext cx="4114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000" b="1">
                <a:solidFill>
                  <a:srgbClr val="32C5B0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361688"/>
            <a:ext cx="4343400" cy="26517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121D2D"/>
                </a:solidFill>
                <a:latin typeface="Aptos"/>
              </a:rPr>
              <a:t>Read the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690871"/>
            <a:ext cx="43434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4B5760"/>
                </a:solidFill>
                <a:latin typeface="Aptos"/>
              </a:rPr>
              <a:t>Resistance in ohms and tolerance recalculate immediately.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5760720"/>
            <a:ext cx="530352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121D2D"/>
                </a:solidFill>
                <a:latin typeface="Aptos"/>
              </a:rPr>
              <a:t>4-band: 2 significant digits  •  5-band: 3 significant digits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ED2D1D3-3533-836D-1788-C844A51E3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" y="1491553"/>
            <a:ext cx="3931920" cy="45445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t>03  /  CALCULATOR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846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FAFAF8"/>
                </a:solidFill>
                <a:latin typeface="Aptos"/>
              </a:rPr>
              <a:t>Change the bands; the decoded value follows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365760"/>
            <a:ext cx="502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t>4 /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971032"/>
            <a:ext cx="507492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32C5B0"/>
                </a:solidFill>
                <a:latin typeface="Aptos"/>
              </a:rPr>
              <a:t>RED • RED • BROWN • GOLD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971032"/>
            <a:ext cx="507492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6C34E"/>
                </a:solidFill>
                <a:latin typeface="Aptos"/>
              </a:rPr>
              <a:t>YELLOW • VIOLET • RED • GOLD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1F0F473-F32F-1EE0-C168-8A7E0301B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12" y="1516331"/>
            <a:ext cx="4424517" cy="469244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20CC0E55-0A36-4EFD-B9D1-3E21639FF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389" y="1516330"/>
            <a:ext cx="4424518" cy="46924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t>04  /  HOW THE CALCULATOR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846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121D2D"/>
                </a:solidFill>
                <a:latin typeface="Aptos"/>
              </a:rPr>
              <a:t>Digits, multiplier, tolerance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365760"/>
            <a:ext cx="502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t>5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90472"/>
            <a:ext cx="507492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4F95DC"/>
                </a:solidFill>
                <a:latin typeface="Aptos"/>
              </a:rPr>
              <a:t>4-BAND RESISTOR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1078992" cy="822960"/>
          </a:xfrm>
          <a:prstGeom prst="roundRect">
            <a:avLst/>
          </a:prstGeom>
          <a:solidFill>
            <a:srgbClr val="E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2039112"/>
            <a:ext cx="987552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 dirty="0">
                <a:solidFill>
                  <a:srgbClr val="FAFAF8"/>
                </a:solidFill>
                <a:latin typeface="Aptos"/>
              </a:rPr>
              <a:t>RED
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48255" y="1847088"/>
            <a:ext cx="1078992" cy="822960"/>
          </a:xfrm>
          <a:prstGeom prst="roundRect">
            <a:avLst/>
          </a:prstGeom>
          <a:solidFill>
            <a:srgbClr val="E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93975" y="2039112"/>
            <a:ext cx="987552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>
                <a:solidFill>
                  <a:srgbClr val="FAFAF8"/>
                </a:solidFill>
                <a:latin typeface="Aptos"/>
              </a:rPr>
              <a:t>RED
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6703" y="1847088"/>
            <a:ext cx="1078992" cy="822960"/>
          </a:xfrm>
          <a:prstGeom prst="roundRect">
            <a:avLst/>
          </a:prstGeom>
          <a:solidFill>
            <a:srgbClr val="7C4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92423" y="2039112"/>
            <a:ext cx="987552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>
                <a:solidFill>
                  <a:srgbClr val="FAFAF8"/>
                </a:solidFill>
                <a:latin typeface="Aptos"/>
              </a:rPr>
              <a:t>BROWN
×10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45152" y="1847088"/>
            <a:ext cx="1078992" cy="822960"/>
          </a:xfrm>
          <a:prstGeom prst="roundRect">
            <a:avLst/>
          </a:prstGeom>
          <a:solidFill>
            <a:srgbClr val="F6C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90872" y="2039112"/>
            <a:ext cx="987552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200" b="1">
                <a:solidFill>
                  <a:srgbClr val="121D2D"/>
                </a:solidFill>
                <a:latin typeface="Aptos"/>
              </a:rPr>
              <a:t>GOLD
±5%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52928"/>
            <a:ext cx="5166360" cy="777240"/>
          </a:xfrm>
          <a:prstGeom prst="roundRect">
            <a:avLst/>
          </a:prstGeom>
          <a:solidFill>
            <a:srgbClr val="12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3054096"/>
            <a:ext cx="47548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000" b="1">
                <a:solidFill>
                  <a:srgbClr val="FAFAF8"/>
                </a:solidFill>
                <a:latin typeface="Aptos"/>
              </a:rPr>
              <a:t>(22) × 10 = 220 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490472"/>
            <a:ext cx="5074920" cy="23774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32C5B0"/>
                </a:solidFill>
                <a:latin typeface="Aptos"/>
              </a:rPr>
              <a:t>5-BAND RESISTOR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847088"/>
            <a:ext cx="859536" cy="822960"/>
          </a:xfrm>
          <a:prstGeom prst="roundRect">
            <a:avLst/>
          </a:prstGeom>
          <a:solidFill>
            <a:srgbClr val="F6C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2039112"/>
            <a:ext cx="804672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121D2D"/>
                </a:solidFill>
                <a:latin typeface="Aptos"/>
              </a:rPr>
              <a:t>YELLOW
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60920" y="1847088"/>
            <a:ext cx="859536" cy="822960"/>
          </a:xfrm>
          <a:prstGeom prst="roundRect">
            <a:avLst/>
          </a:prstGeom>
          <a:solidFill>
            <a:srgbClr val="704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88352" y="2039112"/>
            <a:ext cx="804672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AFAF8"/>
                </a:solidFill>
                <a:latin typeface="Aptos"/>
              </a:rPr>
              <a:t>VIOLET
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94192" y="1847088"/>
            <a:ext cx="859536" cy="822960"/>
          </a:xfrm>
          <a:prstGeom prst="roundRect">
            <a:avLst/>
          </a:prstGeom>
          <a:solidFill>
            <a:srgbClr val="EF7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21624" y="2039112"/>
            <a:ext cx="804672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AFAF8"/>
                </a:solidFill>
                <a:latin typeface="Aptos"/>
              </a:rPr>
              <a:t>RED
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27463" y="1847088"/>
            <a:ext cx="859536" cy="822960"/>
          </a:xfrm>
          <a:prstGeom prst="roundRect">
            <a:avLst/>
          </a:prstGeom>
          <a:solidFill>
            <a:srgbClr val="7C4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54895" y="2039112"/>
            <a:ext cx="804672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FAFAF8"/>
                </a:solidFill>
                <a:latin typeface="Aptos"/>
              </a:rPr>
              <a:t>BROWN
×10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460736" y="1847088"/>
            <a:ext cx="859536" cy="822960"/>
          </a:xfrm>
          <a:prstGeom prst="roundRect">
            <a:avLst/>
          </a:prstGeom>
          <a:solidFill>
            <a:srgbClr val="F6C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488167" y="2039112"/>
            <a:ext cx="804672" cy="3931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121D2D"/>
                </a:solidFill>
                <a:latin typeface="Aptos"/>
              </a:rPr>
              <a:t>GOLD
±5%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2852928"/>
            <a:ext cx="5166360" cy="777240"/>
          </a:xfrm>
          <a:prstGeom prst="roundRect">
            <a:avLst/>
          </a:prstGeom>
          <a:solidFill>
            <a:srgbClr val="121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10528" y="3054096"/>
            <a:ext cx="4754880" cy="32918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000" b="1">
                <a:solidFill>
                  <a:srgbClr val="FAFAF8"/>
                </a:solidFill>
                <a:latin typeface="Aptos"/>
              </a:rPr>
              <a:t>(470) × 10 = 4.7 kΩ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160520"/>
            <a:ext cx="10744200" cy="1078992"/>
          </a:xfrm>
          <a:prstGeom prst="roundRect">
            <a:avLst/>
          </a:prstGeom>
          <a:solidFill>
            <a:srgbClr val="E7E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0120" y="4389120"/>
            <a:ext cx="2331720" cy="274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121D2D"/>
                </a:solidFill>
                <a:latin typeface="Aptos"/>
              </a:rPr>
              <a:t>Why tolerance matters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4361688"/>
            <a:ext cx="7772400" cy="47548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415059"/>
                </a:solidFill>
                <a:latin typeface="Aptos"/>
              </a:rPr>
              <a:t>Gold indicates ±5%; silver indicates ±10%. Metallic colors are not valid significant digits.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742432"/>
            <a:ext cx="104698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1">
                <a:solidFill>
                  <a:srgbClr val="121D2D"/>
                </a:solidFill>
                <a:latin typeface="Aptos"/>
              </a:rPr>
              <a:t>4-band formula: (10 × first digit + second digit) × multiplier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D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8046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t>05  /  PROJECT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789920" cy="4846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FAFAF8"/>
                </a:solidFill>
                <a:latin typeface="Aptos"/>
              </a:rPr>
              <a:t>A practical resistor calculator with an AI extension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365760"/>
            <a:ext cx="5029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t>6 /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971800" cy="3611880"/>
          </a:xfrm>
          <a:prstGeom prst="roundRect">
            <a:avLst/>
          </a:prstGeom>
          <a:solidFill>
            <a:srgbClr val="32C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51460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200" b="1">
                <a:solidFill>
                  <a:srgbClr val="121D2D"/>
                </a:solidFill>
                <a:latin typeface="Aptos"/>
              </a:rPr>
              <a:t>MANUAL
CALCULATOR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907792"/>
            <a:ext cx="2468880" cy="3108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100" b="1">
                <a:solidFill>
                  <a:srgbClr val="121D2D"/>
                </a:solidFill>
                <a:latin typeface="Aptos"/>
              </a:rPr>
              <a:t>4-BAND  /  5-BAND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383280"/>
            <a:ext cx="2331720" cy="76809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2000" b="1">
                <a:solidFill>
                  <a:srgbClr val="121D2D"/>
                </a:solidFill>
                <a:latin typeface="Aptos"/>
              </a:rPr>
              <a:t>220 Ω
4.7 kΩ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4370832"/>
            <a:ext cx="2377440" cy="5029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900" b="0">
                <a:solidFill>
                  <a:srgbClr val="121D2D"/>
                </a:solidFill>
                <a:latin typeface="Aptos"/>
              </a:rPr>
              <a:t>Decoded values with tolerance, updated from color selections.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664208"/>
            <a:ext cx="306324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F6C34E"/>
                </a:solidFill>
                <a:latin typeface="Aptos"/>
              </a:rPr>
              <a:t>WORKING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011680"/>
            <a:ext cx="3154680" cy="1508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FAFAF8"/>
                </a:solidFill>
                <a:latin typeface="Aptos"/>
              </a:rPr>
              <a:t>• Select four or five bands
• See a resistor preview
• Decode resistance and tolerance
• Upload-photo AI mode is optional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2" y="1664208"/>
            <a:ext cx="3474720" cy="2286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EF7060"/>
                </a:solidFill>
                <a:latin typeface="Aptos"/>
              </a:rPr>
              <a:t>AI MODEL SUPPORT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2" y="2011680"/>
            <a:ext cx="3657600" cy="157276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300" b="0">
                <a:solidFill>
                  <a:srgbClr val="FAFAF8"/>
                </a:solidFill>
                <a:latin typeface="Aptos"/>
              </a:rPr>
              <a:t>• 37 resistor classes
• 91% top-1 test accuracy
• 99.7% top-5 on 289 held-out photos
• Model/band conflicts are flagged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33087" y="4160520"/>
            <a:ext cx="7287768" cy="987552"/>
          </a:xfrm>
          <a:prstGeom prst="roundRect">
            <a:avLst/>
          </a:prstGeom>
          <a:solidFill>
            <a:srgbClr val="1C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0832" y="4352544"/>
            <a:ext cx="1234440" cy="21945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32C5B0"/>
                </a:solidFill>
                <a:latin typeface="Aptos"/>
              </a:rPr>
              <a:t>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4315968"/>
            <a:ext cx="5422392" cy="43891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FAFAF8"/>
                </a:solidFill>
                <a:latin typeface="Aptos"/>
              </a:rPr>
              <a:t>The manual calculator is the core; image recognition adds a second way to identify a resistor.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2C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r>
              <a:rPr sz="1000" b="1">
                <a:solidFill>
                  <a:srgbClr val="32C5B0"/>
                </a:solidFill>
                <a:latin typeface="Aptos"/>
              </a:rPr>
              <a:t>RESISTOR VALUE IDENTIFICATION  /  01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r>
              <a:rPr sz="3200" b="1">
                <a:solidFill>
                  <a:srgbClr val="FAFAF8"/>
                </a:solidFill>
                <a:latin typeface="Aptos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148840"/>
            <a:ext cx="10241280" cy="2926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r>
              <a:rPr sz="1800" b="0">
                <a:solidFill>
                  <a:srgbClr val="BFCCD5"/>
                </a:solidFill>
                <a:latin typeface="Aptos"/>
              </a:rPr>
              <a:t>AI Resistor Value Identification is a project designed to identify the resistance value of a resistor using its color bands. Resistors commonly use color bands to represent their resistance and tolerance, but reading these bands manually can sometimes be difficult or time-consuming. This project provides a digital solution where users can select resistor bands and instantly obtain the resistance value and tolerance. It also includes an optional AI-based image recognition feature for identifying resistor values from photographs.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32C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r>
              <a:rPr sz="1000" b="1">
                <a:solidFill>
                  <a:srgbClr val="32C5B0"/>
                </a:solidFill>
                <a:latin typeface="Aptos"/>
              </a:rPr>
              <a:t>RESISTOR VALUE IDENTIFICATION  /  07 /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r>
              <a:rPr sz="3200" b="1">
                <a:solidFill>
                  <a:srgbClr val="FAFAF8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148840"/>
            <a:ext cx="10241280" cy="2926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r>
              <a:rPr sz="1800" b="0">
                <a:solidFill>
                  <a:srgbClr val="BFCCD5"/>
                </a:solidFill>
                <a:latin typeface="Aptos"/>
              </a:rPr>
              <a:t>The AI Resistor Value Identification project provides a practical and user-friendly way to determine resistor values. The manual calculator successfully supports both 4-band and 5-band resistors, displaying resistance and tolerance based on the selected colors. The project also includes an AI extension for image-based identification, providing an additional way to recognize resistor values. Overall, the system combines traditional resistor color-code calculation with AI-based recognition to make resistor identification faster and easier.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341</Words>
  <Application>Microsoft Office PowerPoint</Application>
  <PresentationFormat>Widescreen</PresentationFormat>
  <Paragraphs>57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Thomas Mathew</cp:lastModifiedBy>
  <cp:revision>2</cp:revision>
  <dcterms:created xsi:type="dcterms:W3CDTF">2013-01-27T09:14:16Z</dcterms:created>
  <dcterms:modified xsi:type="dcterms:W3CDTF">2026-09-27T13:50:14Z</dcterms:modified>
  <cp:category/>
</cp:coreProperties>
</file>